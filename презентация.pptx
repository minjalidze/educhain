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6487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8872"/>
            <a:ext cx="12191695" cy="64008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pic>
        <p:nvPicPr>
          <p:cNvPr id="3" name="Image 0" descr="/mnt/data/diploma_output/educhai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43200"/>
            <a:ext cx="804672" cy="8046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11480"/>
            <a:ext cx="81838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Министерство образования Новосибирской области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Государственное бюджетное профессиональное образовательное учреждение Новосибирской области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«Новосибирский колледж электроники и вычислительной техники»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2057400" y="1508760"/>
            <a:ext cx="80467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Дипломный проект на тему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28800" y="1847088"/>
            <a:ext cx="8595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«Разработка децентрализованной системы верификации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образовательных документов на основе блокчейна Ethereum»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828800" y="2688336"/>
            <a:ext cx="8595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8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специальности 09.02.07 «Информационные системы и программирование»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1828800" y="3081528"/>
            <a:ext cx="8595360" cy="18288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370332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Выполнил студент: 11ИС-393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Максим Владимирович</a:t>
            </a:r>
            <a:endParaRPr lang="en-US" sz="1120" dirty="0"/>
          </a:p>
        </p:txBody>
      </p:sp>
      <p:sp>
        <p:nvSpPr>
          <p:cNvPr id="10" name="Text 7"/>
          <p:cNvSpPr/>
          <p:nvPr/>
        </p:nvSpPr>
        <p:spPr>
          <a:xfrm>
            <a:off x="6858000" y="3703320"/>
            <a:ext cx="274320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Руководитель проекта: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Щерба Евгений Андреевич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4754880" y="6172200"/>
            <a:ext cx="2468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Новосибирск —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Актуальность и цель проекта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11480" y="960120"/>
            <a:ext cx="3977640" cy="452628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069848"/>
            <a:ext cx="36484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" y="1463040"/>
            <a:ext cx="356616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образовательных документов часто требует ручных запросов;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бумажный или цифровой файл может быть изменён без заметных внешних признаков;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проверяющей стороне нужен быстрый и понятный способ убедиться в совпадении сведений.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818120" y="960120"/>
            <a:ext cx="3886200" cy="452628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82712" y="1069848"/>
            <a:ext cx="35570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74152" y="1463040"/>
            <a:ext cx="3474720" cy="3931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разработать веб-приложение для регистрации и проверки образовательных документов;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использовать SHA-256 для формирования цифрового отпечатка;</a:t>
            </a:r>
            <a:endParaRPr lang="en-US" sz="1280" dirty="0"/>
          </a:p>
          <a:p>
            <a:r>
              <a:rPr lang="en-US" sz="12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хранить проверочный хеш в Ethereum-совместимом смарт-контракте.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5481828" y="27980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56832" y="279806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709160" y="2587752"/>
            <a:ext cx="658368" cy="658368"/>
          </a:xfrm>
          <a:prstGeom prst="ellipse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752344"/>
            <a:ext cx="6583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897880" y="2587752"/>
            <a:ext cx="658368" cy="6583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752344"/>
            <a:ext cx="6583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086600" y="2587752"/>
            <a:ext cx="658368" cy="6583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752344"/>
            <a:ext cx="658368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3364992"/>
            <a:ext cx="960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779008" y="3364992"/>
            <a:ext cx="8686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858000" y="3364992"/>
            <a:ext cx="777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5715000"/>
            <a:ext cx="8503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смысл: пользователь загружает файл, а система показывает, совпадает ли его цифровой отпечаток с записью, ранее внесённой образовательной организацией.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предметной области и постановка задач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58521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37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предназначена для ситуаций, когда необходимо быстро проверить цифровой образовательный документ без обращения к бумажным копиям и длительным согласованиям.</a:t>
            </a:r>
            <a:endParaRPr lang="en-US" sz="137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32918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47088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использует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2240280"/>
            <a:ext cx="28803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 управляет пользователями;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образовательная организация регистрирует и отзывает документы;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проверяющий загружает файл и получает результат.</a:t>
            </a:r>
            <a:endParaRPr lang="en-US" sz="1210" dirty="0"/>
          </a:p>
        </p:txBody>
      </p:sp>
      <p:sp>
        <p:nvSpPr>
          <p:cNvPr id="10" name="Shape 8"/>
          <p:cNvSpPr/>
          <p:nvPr/>
        </p:nvSpPr>
        <p:spPr>
          <a:xfrm>
            <a:off x="4160520" y="1737360"/>
            <a:ext cx="329184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25112" y="1847088"/>
            <a:ext cx="29626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автоматизировать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2240280"/>
            <a:ext cx="288036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авторизацию и роли;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хеша файла;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хеша в смарт-контракт;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проверку документа и журнал операций.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8737092" y="18379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108692" y="18379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43800" y="1645920"/>
            <a:ext cx="11430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07808" y="1691640"/>
            <a:ext cx="10149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добавляет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098280" y="1645920"/>
            <a:ext cx="96012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62288" y="1691640"/>
            <a:ext cx="83210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Ethereum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хранит хеш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469880" y="164592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33888" y="1691640"/>
            <a:ext cx="115214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проверяет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8412480" y="3337560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F8FBFD"/>
          </a:solidFill>
          <a:ln w="15240">
            <a:solidFill>
              <a:srgbClr val="BFD7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6488" y="3383280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не раскрывается в блокчейне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412480" y="4069080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F8FBFD"/>
          </a:solidFill>
          <a:ln w="15240">
            <a:solidFill>
              <a:srgbClr val="BFD7E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4114800"/>
            <a:ext cx="202082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цепочке хранится только SHA-256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914400" y="553212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Задача проекта — соединить удобный веб-интерфейс, серверную бизнес-логику и проверяемый блокчейн-реестр.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подходов к проверке документов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40817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05840"/>
            <a:ext cx="13167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Критерий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1920240" y="960120"/>
            <a:ext cx="186537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005840"/>
            <a:ext cx="17739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Бумажная проверка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794760" y="960120"/>
            <a:ext cx="168249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005840"/>
            <a:ext cx="15910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Центральная БД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5486400" y="960120"/>
            <a:ext cx="195681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005840"/>
            <a:ext cx="18653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Blockchain-реестр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" y="1618488"/>
            <a:ext cx="140817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664208"/>
            <a:ext cx="13167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1920240" y="1618488"/>
            <a:ext cx="186537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1664208"/>
            <a:ext cx="17739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ручные запросы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794760" y="1618488"/>
            <a:ext cx="168249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0" y="1664208"/>
            <a:ext cx="15910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0" y="1618488"/>
            <a:ext cx="195681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664208"/>
            <a:ext cx="18653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 после записи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502920" y="2276856"/>
            <a:ext cx="140817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322576"/>
            <a:ext cx="13167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Доверие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1920240" y="2276856"/>
            <a:ext cx="186537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2322576"/>
            <a:ext cx="17739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ответу организации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3794760" y="2276856"/>
            <a:ext cx="168249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322576"/>
            <a:ext cx="15910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владельцу базы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486400" y="2276856"/>
            <a:ext cx="195681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2322576"/>
            <a:ext cx="18653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 неизменяемой записи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502920" y="2935224"/>
            <a:ext cx="140817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2980944"/>
            <a:ext cx="13167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920240" y="2935224"/>
            <a:ext cx="186537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965960" y="2980944"/>
            <a:ext cx="17739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часто полный документ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3794760" y="2935224"/>
            <a:ext cx="168249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0" y="2980944"/>
            <a:ext cx="15910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в БД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486400" y="2935224"/>
            <a:ext cx="195681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980944"/>
            <a:ext cx="18653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цепочке только хеш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502920" y="3593592"/>
            <a:ext cx="140817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3639312"/>
            <a:ext cx="13167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Подмена файла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1920240" y="3593592"/>
            <a:ext cx="186537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65960" y="3639312"/>
            <a:ext cx="177393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выявить сложно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3794760" y="3593592"/>
            <a:ext cx="168249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40480" y="3639312"/>
            <a:ext cx="159105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доступа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486400" y="3593592"/>
            <a:ext cx="195681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32120" y="3639312"/>
            <a:ext cx="18653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изменится сразу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7818120" y="1005840"/>
            <a:ext cx="3794760" cy="129844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82712" y="1115568"/>
            <a:ext cx="34655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выбран blockchain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982712" y="1508760"/>
            <a:ext cx="34655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документа фиксируется в независимом журнале. При изменении файла меняется цифровой отпечаток, поэтому проверяющий увидит несовпадение.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818120" y="2331720"/>
            <a:ext cx="3794760" cy="1298448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82712" y="2441448"/>
            <a:ext cx="34655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хранится сам документ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7982712" y="2834640"/>
            <a:ext cx="34655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цепочку не помещаются персональные данные и полный файл. Это снижает риск раскрытия сведений и уменьшает объём данных в блокчейне.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18120" y="3657600"/>
            <a:ext cx="3794760" cy="115214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982712" y="3767328"/>
            <a:ext cx="346557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Роль базы данных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982712" y="4160520"/>
            <a:ext cx="34655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хранит пользователей, метаданные документов и журнал проверок. Блокчейн хранит проверочный минимум.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Выбран комбинированный вариант: веб-приложение + backend + PostgreSQL + смарт-контракт Ethereum.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требования и роли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0972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163E6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224942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800600" y="1097280"/>
            <a:ext cx="2606040" cy="566928"/>
          </a:xfrm>
          <a:prstGeom prst="roundRect">
            <a:avLst>
              <a:gd name="adj" fmla="val 9677"/>
            </a:avLst>
          </a:prstGeom>
          <a:solidFill>
            <a:srgbClr val="22C55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64608" y="1143000"/>
            <a:ext cx="247802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Образовательная организация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915400" y="1097280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79408" y="1143000"/>
            <a:ext cx="2249424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Проверяющий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192024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2423160"/>
            <a:ext cx="23317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и редактирование пользователей;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назначение ролей;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к административному разделу;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структуры системы.</a:t>
            </a:r>
            <a:endParaRPr lang="en-US" sz="1210" dirty="0"/>
          </a:p>
        </p:txBody>
      </p:sp>
      <p:sp>
        <p:nvSpPr>
          <p:cNvPr id="14" name="Shape 12"/>
          <p:cNvSpPr/>
          <p:nvPr/>
        </p:nvSpPr>
        <p:spPr>
          <a:xfrm>
            <a:off x="4617720" y="1920240"/>
            <a:ext cx="297180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2423160"/>
            <a:ext cx="25603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файла документа;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номера, типа и даты выдачи;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хеша в blockchain;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ранее внесённой записи.</a:t>
            </a:r>
            <a:endParaRPr lang="en-US" sz="1210" dirty="0"/>
          </a:p>
        </p:txBody>
      </p:sp>
      <p:sp>
        <p:nvSpPr>
          <p:cNvPr id="16" name="Shape 14"/>
          <p:cNvSpPr/>
          <p:nvPr/>
        </p:nvSpPr>
        <p:spPr>
          <a:xfrm>
            <a:off x="8732520" y="1920240"/>
            <a:ext cx="2743200" cy="2971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88552" y="2423160"/>
            <a:ext cx="2331720" cy="2377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файла для проверки;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получение результата без знаний Ethereum;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статусы: Valid, NotFound, Revoked;</a:t>
            </a:r>
            <a:endParaRPr lang="en-US" sz="1210" dirty="0"/>
          </a:p>
          <a:p>
            <a:r>
              <a:rPr lang="en-US" sz="12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просмотр понятного сообщения.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3753612" y="32095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28432" y="32095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14400" y="5577840"/>
            <a:ext cx="102412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требование к интерфейсу — скрыть техническую сложность blockchain и оставить пользователю привычную работу с файлами и формами.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EduChain Verify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770632" y="18379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650992" y="18379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39912" y="183794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67544" y="21031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004304" y="26380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43984" y="263804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5800" y="15087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1554480"/>
            <a:ext cx="160934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/ Issuer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5087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93008" y="1554480"/>
            <a:ext cx="17922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+ React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150876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27648" y="1554480"/>
            <a:ext cx="160934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06840" y="1508760"/>
            <a:ext cx="192024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70848" y="1554480"/>
            <a:ext cx="1792224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Nethereum</a:t>
            </a:r>
            <a:endParaRPr lang="en-US" sz="1020" dirty="0"/>
          </a:p>
          <a:p>
            <a:pPr marL="0" indent="0" algn="ctr">
              <a:buNone/>
            </a:pPr>
            <a:r>
              <a:rPr lang="en-US" sz="102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к узлу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9281160" y="3063240"/>
            <a:ext cx="1828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E157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45168" y="3108960"/>
            <a:ext cx="170078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contract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DocumentVerification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6263640" y="3063240"/>
            <a:ext cx="173736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3108960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и журнал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3611880" y="3063240"/>
            <a:ext cx="192024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75888" y="3108960"/>
            <a:ext cx="179222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хеша файла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E1575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157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6032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Hardhat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ASP.NET Core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12648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0956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5528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692640" y="4251960"/>
            <a:ext cx="1600200" cy="41148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38360" y="436168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Nethereum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5074920"/>
            <a:ext cx="10698480" cy="9784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5184648"/>
            <a:ext cx="1036929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взаимодействия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50392" y="5577840"/>
            <a:ext cx="1036929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обращается к блокчейну напрямую. Frontend отправляет запросы в backend, а backend проверяет роль, рассчитывает хеш, сохраняет метаданные и вызывает смарт-контракт.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 смарт-контракт Ethereum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427732" y="2020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193792" y="2020824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849624" y="32461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5087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1828800"/>
            <a:ext cx="138074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Email, Role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69164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27248" y="1737360"/>
            <a:ext cx="1746504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EducationalDocument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Number, Type, Hash</a:t>
            </a:r>
            <a:endParaRPr lang="en-US" sz="940" dirty="0"/>
          </a:p>
          <a:p>
            <a:pPr marL="0" indent="0" algn="ctr">
              <a:buNone/>
            </a:pPr>
            <a:r>
              <a:rPr lang="en-US" sz="9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Issuer, Revoked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5760720" y="178308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24728" y="1828800"/>
            <a:ext cx="156362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bytes32 hash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63240" y="3886200"/>
            <a:ext cx="1874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27248" y="3931920"/>
            <a:ext cx="1746504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VerificationLog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Status, Time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09560" y="1097280"/>
            <a:ext cx="3611880" cy="3794760"/>
          </a:xfrm>
          <a:prstGeom prst="roundRect">
            <a:avLst>
              <a:gd name="adj" fmla="val 2025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38160" y="1298448"/>
            <a:ext cx="3200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DocumentVerification.sol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38160" y="1691640"/>
            <a:ext cx="3063240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DocumentRecord {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address issuer;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uint256 issuedAt;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exists;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bool revoked;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addDocument(hash)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verifyDocument(hash)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revokeDocument(hash)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83880" y="4407408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48970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345168" y="4407408"/>
            <a:ext cx="1051560" cy="329184"/>
          </a:xfrm>
          <a:prstGeom prst="roundRect">
            <a:avLst>
              <a:gd name="adj" fmla="val 50000"/>
            </a:avLst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90888" y="4489704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0570464" y="4407408"/>
            <a:ext cx="685800" cy="329184"/>
          </a:xfrm>
          <a:prstGeom prst="roundRect">
            <a:avLst>
              <a:gd name="adj" fmla="val 50000"/>
            </a:avLst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16184" y="4489704"/>
            <a:ext cx="594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005840" y="5532120"/>
            <a:ext cx="101498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Идея хранения: в базе находится прикладная информация, а в blockchain — независимая запись о хеше документа.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Алгоритмы регистрации и проверки документа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841248"/>
            <a:ext cx="51206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 документа образовательной организацией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37960" y="841248"/>
            <a:ext cx="49377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документа проверяющей стороной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97864" y="19202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97864" y="2880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97864" y="38404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97864" y="4800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13258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137160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Файл и данные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Проверка роли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" y="329184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SHA-256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42062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157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" y="425196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addDocument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640080" y="51663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Запись в БД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1325880"/>
            <a:ext cx="2971800" cy="429768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87752" y="1435608"/>
            <a:ext cx="264261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регистрации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679192" y="1828800"/>
            <a:ext cx="2560320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 документа добавлен в смарт-контракт;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метаданные сохранены в PostgreSQL;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получает подтверждение операции.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7141464" y="192024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41464" y="28803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141464" y="38404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41464" y="480060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83680" y="132588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47688" y="137160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Файл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583680" y="228600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47688" y="233172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SHA-256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583680" y="324612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1575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47688" y="329184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verifyDocument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6583680" y="42062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47688" y="425196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Статус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583680" y="516636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47688" y="5212080"/>
            <a:ext cx="12435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Журнал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366760" y="1325880"/>
            <a:ext cx="3063240" cy="429768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31352" y="1435608"/>
            <a:ext cx="27340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проверки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622792" y="1828800"/>
            <a:ext cx="2651760" cy="3703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— документ совпадает с записью;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NotFound — такой хеш не найден;</a:t>
            </a:r>
            <a:endParaRPr lang="en-US" sz="1220" dirty="0"/>
          </a:p>
          <a:p>
            <a:r>
              <a:rPr lang="en-US" sz="122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Revoked — запись найдена, но документ отозван.</a:t>
            </a:r>
            <a:endParaRPr lang="en-US" sz="12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Пользовательский интерфейс веб-приложения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914400"/>
            <a:ext cx="58521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5240">
            <a:solidFill>
              <a:srgbClr val="BFD7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914400"/>
            <a:ext cx="5852160" cy="347472"/>
          </a:xfrm>
          <a:prstGeom prst="rect">
            <a:avLst/>
          </a:prstGeom>
          <a:solidFill>
            <a:srgbClr val="F1F5F9"/>
          </a:solidFill>
          <a:ln w="15240">
            <a:solidFill>
              <a:srgbClr val="BFD7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024128"/>
            <a:ext cx="109728" cy="109728"/>
          </a:xfrm>
          <a:prstGeom prst="ellipse">
            <a:avLst/>
          </a:prstGeom>
          <a:solidFill>
            <a:srgbClr val="E15759"/>
          </a:solidFill>
          <a:ln w="12700">
            <a:solidFill>
              <a:srgbClr val="E1575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10241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7864" y="1024128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54480" y="996696"/>
            <a:ext cx="182880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EduChain Verify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1508760"/>
            <a:ext cx="22860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документа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1965960"/>
            <a:ext cx="4526280" cy="502920"/>
          </a:xfrm>
          <a:prstGeom prst="roundRect">
            <a:avLst>
              <a:gd name="adj" fmla="val 10909"/>
            </a:avLst>
          </a:prstGeom>
          <a:solidFill>
            <a:srgbClr val="F8FBFD"/>
          </a:solidFill>
          <a:ln w="15240">
            <a:solidFill>
              <a:srgbClr val="BFD7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2011680"/>
            <a:ext cx="4398264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Выберите файл образовательного документа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2697480"/>
            <a:ext cx="2011680" cy="438912"/>
          </a:xfrm>
          <a:prstGeom prst="roundRect">
            <a:avLst>
              <a:gd name="adj" fmla="val 12500"/>
            </a:avLst>
          </a:prstGeom>
          <a:solidFill>
            <a:srgbClr val="163E6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9848" y="2743200"/>
            <a:ext cx="188366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Загрузить файл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37560" y="2697480"/>
            <a:ext cx="2194560" cy="438912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1568" y="2743200"/>
            <a:ext cx="20665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Получить результат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05840" y="3520440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360273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411984" y="3703320"/>
            <a:ext cx="28346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 найден, хеш совпадает с записью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6903720" y="896112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страницы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81544" y="18745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81544" y="27889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81544" y="37033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903720" y="13258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67728" y="1371600"/>
            <a:ext cx="1883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 пользователя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6903720" y="22402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67728" y="2286000"/>
            <a:ext cx="1883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/dashboard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статистика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6903720" y="31546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3200400"/>
            <a:ext cx="1883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/documents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документы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903720" y="4069080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157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4114800"/>
            <a:ext cx="188366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/verify</a:t>
            </a:r>
            <a:endParaRPr lang="en-US" sz="960" dirty="0"/>
          </a:p>
          <a:p>
            <a:pPr marL="0" indent="0" algn="ctr">
              <a:buNone/>
            </a:pPr>
            <a:r>
              <a:rPr lang="en-US" sz="96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326880" y="1325880"/>
            <a:ext cx="2331720" cy="320040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491472" y="1435608"/>
            <a:ext cx="20025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пользователя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82912" y="1828800"/>
            <a:ext cx="192024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понятные формы;</a:t>
            </a:r>
            <a:endParaRPr lang="en-US" sz="1130" dirty="0"/>
          </a:p>
          <a:p>
            <a:r>
              <a:rPr lang="en-US" sz="11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без технических деталей;</a:t>
            </a:r>
            <a:endParaRPr lang="en-US" sz="1130" dirty="0"/>
          </a:p>
          <a:p>
            <a:r>
              <a:rPr lang="en-US" sz="11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разделы открываются по роли;</a:t>
            </a:r>
            <a:endParaRPr lang="en-US" sz="1130" dirty="0"/>
          </a:p>
          <a:p>
            <a:r>
              <a:rPr lang="en-US" sz="11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необходимости знать blockchain.</a:t>
            </a:r>
            <a:endParaRPr lang="en-US" sz="1130" dirty="0"/>
          </a:p>
        </p:txBody>
      </p:sp>
      <p:sp>
        <p:nvSpPr>
          <p:cNvPr id="37" name="Text 35"/>
          <p:cNvSpPr/>
          <p:nvPr/>
        </p:nvSpPr>
        <p:spPr>
          <a:xfrm>
            <a:off x="1051560" y="5715000"/>
            <a:ext cx="10058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 закрывает сложность Ethereum: пользователь видит обычную форму, а технические операции выполняются на серверной стороне.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работы приложения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960120"/>
            <a:ext cx="159105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05840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</a:t>
            </a:r>
            <a:endParaRPr lang="en-US" sz="1070" dirty="0"/>
          </a:p>
        </p:txBody>
      </p:sp>
      <p:sp>
        <p:nvSpPr>
          <p:cNvPr id="8" name="Shape 6"/>
          <p:cNvSpPr/>
          <p:nvPr/>
        </p:nvSpPr>
        <p:spPr>
          <a:xfrm>
            <a:off x="2240280" y="960120"/>
            <a:ext cx="250545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005840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Действие пользователя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4754880" y="960120"/>
            <a:ext cx="2871216" cy="64922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005840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системы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640080" y="1618488"/>
            <a:ext cx="15910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664208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Регистрация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240280" y="1618488"/>
            <a:ext cx="25054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0" y="1664208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загружает документ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754880" y="1618488"/>
            <a:ext cx="287121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664208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 хеш, запись добавлена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40080" y="2276856"/>
            <a:ext cx="159105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2322576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исходного файла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2240280" y="2276856"/>
            <a:ext cx="250545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0" y="2322576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 загружает тот же файл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54880" y="2276856"/>
            <a:ext cx="287121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22576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Valid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40080" y="2935224"/>
            <a:ext cx="15910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2980944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изменённого файла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2240280" y="2935224"/>
            <a:ext cx="25054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0" y="2980944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загружена изменённая копия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4754880" y="2935224"/>
            <a:ext cx="287121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980944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NotFound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640080" y="3593592"/>
            <a:ext cx="159105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639312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Отзыв документа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2240280" y="3593592"/>
            <a:ext cx="250545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86000" y="3639312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Issuer отзывает запись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754880" y="3593592"/>
            <a:ext cx="2871216" cy="64922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639312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Revoked</a:t>
            </a:r>
            <a:endParaRPr lang="en-US" sz="1030" dirty="0"/>
          </a:p>
        </p:txBody>
      </p:sp>
      <p:sp>
        <p:nvSpPr>
          <p:cNvPr id="36" name="Shape 34"/>
          <p:cNvSpPr/>
          <p:nvPr/>
        </p:nvSpPr>
        <p:spPr>
          <a:xfrm>
            <a:off x="640080" y="4251960"/>
            <a:ext cx="15910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4297680"/>
            <a:ext cx="14996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по ролям</a:t>
            </a:r>
            <a:endParaRPr lang="en-US" sz="1030" dirty="0"/>
          </a:p>
        </p:txBody>
      </p:sp>
      <p:sp>
        <p:nvSpPr>
          <p:cNvPr id="38" name="Shape 36"/>
          <p:cNvSpPr/>
          <p:nvPr/>
        </p:nvSpPr>
        <p:spPr>
          <a:xfrm>
            <a:off x="2240280" y="4251960"/>
            <a:ext cx="250545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0" y="4297680"/>
            <a:ext cx="241401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в закрытый раздел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4754880" y="4251960"/>
            <a:ext cx="2871216" cy="64922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297680"/>
            <a:ext cx="2779776" cy="5577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доступ ограничен</a:t>
            </a:r>
            <a:endParaRPr lang="en-US" sz="1030" dirty="0"/>
          </a:p>
        </p:txBody>
      </p:sp>
      <p:sp>
        <p:nvSpPr>
          <p:cNvPr id="42" name="Shape 40"/>
          <p:cNvSpPr/>
          <p:nvPr/>
        </p:nvSpPr>
        <p:spPr>
          <a:xfrm>
            <a:off x="8001000" y="960120"/>
            <a:ext cx="3474720" cy="1179576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65592" y="1069848"/>
            <a:ext cx="31455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Контрольные статусы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165592" y="1463040"/>
            <a:ext cx="314553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Valid, NotFound и Revoked позволяют объяснить результат проверки обычному пользователю без терминов Ethereum.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001000" y="2331720"/>
            <a:ext cx="3474720" cy="115214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65592" y="2441448"/>
            <a:ext cx="31455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проверки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165592" y="2834640"/>
            <a:ext cx="314553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небольшое изменение файла приводит к другому SHA-256 хешу, поэтому запись в реестре не совпадает.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001000" y="3703320"/>
            <a:ext cx="3474720" cy="1152144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3813048"/>
            <a:ext cx="314553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Журнал операций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165592" y="4206240"/>
            <a:ext cx="314553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проверок сохраняются в журнале и могут использоваться для контроля работы системы.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914400" y="566928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Основная ценность проверки — быстро показать, совпадает ли документ с ранее зарегистрированным цифровым отпечатком.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4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163E6F"/>
          </a:solidFill>
          <a:ln w="12700">
            <a:solidFill>
              <a:srgbClr val="163E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01168" y="15544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Организационно-экономический эффект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521440" y="15544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" y="6565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1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М.В.  |  11ИС-393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0972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163E6F"/>
          </a:solidFill>
          <a:ln w="15240">
            <a:solidFill>
              <a:srgbClr val="163E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143000"/>
            <a:ext cx="1975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 ч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трудоёмкость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22C55E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38728" y="1143000"/>
            <a:ext cx="1975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164 038 руб.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расчётная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F59E0B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90488" y="1143000"/>
            <a:ext cx="1975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мин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 на</a:t>
            </a:r>
            <a:endParaRPr lang="en-US" sz="1220" dirty="0"/>
          </a:p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одной проверке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778240" y="1097280"/>
            <a:ext cx="2103120" cy="1005840"/>
          </a:xfrm>
          <a:prstGeom prst="roundRect">
            <a:avLst>
              <a:gd name="adj" fmla="val 5455"/>
            </a:avLst>
          </a:prstGeom>
          <a:solidFill>
            <a:srgbClr val="7C3AED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42248" y="1143000"/>
            <a:ext cx="1975104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 года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ориентировочная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окупаемость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2743200"/>
            <a:ext cx="3008376" cy="37490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788920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Показатель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2743200"/>
            <a:ext cx="1956816" cy="374904"/>
          </a:xfrm>
          <a:prstGeom prst="rect">
            <a:avLst/>
          </a:prstGeom>
          <a:solidFill>
            <a:srgbClr val="163E6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788920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Значение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77240" y="3127248"/>
            <a:ext cx="300837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172968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ручная проверка одного документа</a:t>
            </a:r>
            <a:endParaRPr lang="en-US" sz="1010" dirty="0"/>
          </a:p>
        </p:txBody>
      </p:sp>
      <p:sp>
        <p:nvSpPr>
          <p:cNvPr id="20" name="Shape 18"/>
          <p:cNvSpPr/>
          <p:nvPr/>
        </p:nvSpPr>
        <p:spPr>
          <a:xfrm>
            <a:off x="3794760" y="3127248"/>
            <a:ext cx="195681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3172968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минут</a:t>
            </a:r>
            <a:endParaRPr lang="en-US" sz="1010" dirty="0"/>
          </a:p>
        </p:txBody>
      </p:sp>
      <p:sp>
        <p:nvSpPr>
          <p:cNvPr id="22" name="Shape 20"/>
          <p:cNvSpPr/>
          <p:nvPr/>
        </p:nvSpPr>
        <p:spPr>
          <a:xfrm>
            <a:off x="777240" y="3511296"/>
            <a:ext cx="3008376" cy="37490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557016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через систему</a:t>
            </a:r>
            <a:endParaRPr lang="en-US" sz="1010" dirty="0"/>
          </a:p>
        </p:txBody>
      </p:sp>
      <p:sp>
        <p:nvSpPr>
          <p:cNvPr id="24" name="Shape 22"/>
          <p:cNvSpPr/>
          <p:nvPr/>
        </p:nvSpPr>
        <p:spPr>
          <a:xfrm>
            <a:off x="3794760" y="3511296"/>
            <a:ext cx="1956816" cy="37490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557016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минуты</a:t>
            </a:r>
            <a:endParaRPr lang="en-US" sz="1010" dirty="0"/>
          </a:p>
        </p:txBody>
      </p:sp>
      <p:sp>
        <p:nvSpPr>
          <p:cNvPr id="26" name="Shape 24"/>
          <p:cNvSpPr/>
          <p:nvPr/>
        </p:nvSpPr>
        <p:spPr>
          <a:xfrm>
            <a:off x="777240" y="3895344"/>
            <a:ext cx="300837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3941064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проверок в год для расчёта</a:t>
            </a:r>
            <a:endParaRPr lang="en-US" sz="1010" dirty="0"/>
          </a:p>
        </p:txBody>
      </p:sp>
      <p:sp>
        <p:nvSpPr>
          <p:cNvPr id="28" name="Shape 26"/>
          <p:cNvSpPr/>
          <p:nvPr/>
        </p:nvSpPr>
        <p:spPr>
          <a:xfrm>
            <a:off x="3794760" y="3895344"/>
            <a:ext cx="195681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3941064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1010" dirty="0"/>
          </a:p>
        </p:txBody>
      </p:sp>
      <p:sp>
        <p:nvSpPr>
          <p:cNvPr id="30" name="Shape 28"/>
          <p:cNvSpPr/>
          <p:nvPr/>
        </p:nvSpPr>
        <p:spPr>
          <a:xfrm>
            <a:off x="777240" y="4279392"/>
            <a:ext cx="3008376" cy="37490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325112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годовая экономия времени</a:t>
            </a:r>
            <a:endParaRPr lang="en-US" sz="1010" dirty="0"/>
          </a:p>
        </p:txBody>
      </p:sp>
      <p:sp>
        <p:nvSpPr>
          <p:cNvPr id="32" name="Shape 30"/>
          <p:cNvSpPr/>
          <p:nvPr/>
        </p:nvSpPr>
        <p:spPr>
          <a:xfrm>
            <a:off x="3794760" y="4279392"/>
            <a:ext cx="1956816" cy="374904"/>
          </a:xfrm>
          <a:prstGeom prst="rect">
            <a:avLst/>
          </a:prstGeom>
          <a:solidFill>
            <a:srgbClr val="F8FBFD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4325112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283 часа</a:t>
            </a:r>
            <a:endParaRPr lang="en-US" sz="1010" dirty="0"/>
          </a:p>
        </p:txBody>
      </p:sp>
      <p:sp>
        <p:nvSpPr>
          <p:cNvPr id="34" name="Shape 32"/>
          <p:cNvSpPr/>
          <p:nvPr/>
        </p:nvSpPr>
        <p:spPr>
          <a:xfrm>
            <a:off x="777240" y="4663440"/>
            <a:ext cx="300837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709160"/>
            <a:ext cx="2916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l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годовая экономия средств</a:t>
            </a:r>
            <a:endParaRPr lang="en-US" sz="1010" dirty="0"/>
          </a:p>
        </p:txBody>
      </p:sp>
      <p:sp>
        <p:nvSpPr>
          <p:cNvPr id="36" name="Shape 34"/>
          <p:cNvSpPr/>
          <p:nvPr/>
        </p:nvSpPr>
        <p:spPr>
          <a:xfrm>
            <a:off x="3794760" y="4663440"/>
            <a:ext cx="1956816" cy="374904"/>
          </a:xfrm>
          <a:prstGeom prst="rect">
            <a:avLst/>
          </a:prstGeom>
          <a:solidFill>
            <a:srgbClr val="FFFFFF"/>
          </a:solidFill>
          <a:ln w="8890">
            <a:solidFill>
              <a:srgbClr val="BFD7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4709160"/>
            <a:ext cx="18653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01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85 000 руб.</a:t>
            </a:r>
            <a:endParaRPr lang="en-US" sz="1010" dirty="0"/>
          </a:p>
        </p:txBody>
      </p:sp>
      <p:sp>
        <p:nvSpPr>
          <p:cNvPr id="38" name="Shape 36"/>
          <p:cNvSpPr/>
          <p:nvPr/>
        </p:nvSpPr>
        <p:spPr>
          <a:xfrm>
            <a:off x="6400800" y="2743200"/>
            <a:ext cx="466344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BFD7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65392" y="2852928"/>
            <a:ext cx="4334256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Организационный результат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6832" y="3246120"/>
            <a:ext cx="425196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ручных запросов и ожидания ответа;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ниже вероятность ошибки при сверке;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цифровой журнал проверок;</a:t>
            </a:r>
            <a:endParaRPr lang="en-US" sz="1200" dirty="0"/>
          </a:p>
          <a:p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удобная демонстрация для учебной организации и проверяющей стороны.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14400" y="5669280"/>
            <a:ext cx="1024128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3E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Экономический эффект связан не только со стоимостью разработки, но и с сокращением времени регулярной проверки документов.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3E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diploma_output/educhain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05156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383280" y="2331720"/>
            <a:ext cx="5440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Заключение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2194560" y="3063240"/>
            <a:ext cx="786384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разработано веб-приложение EduChain Verify с ролями Admin, Issuer и Verifier;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реализована регистрация SHA-256 хеша документа в Ethereum-совместимом смарт-контракте;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на ASP.NET Core связывает интерфейс, PostgreSQL и blockchain-логику;</a:t>
            </a:r>
            <a:endParaRPr lang="en-US" sz="1420" dirty="0"/>
          </a:p>
          <a:p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решает практическую задачу быстрой проверки образовательных документов.</a:t>
            </a:r>
            <a:endParaRPr lang="en-US" sz="1420" dirty="0"/>
          </a:p>
        </p:txBody>
      </p:sp>
      <p:sp>
        <p:nvSpPr>
          <p:cNvPr id="5" name="Text 2"/>
          <p:cNvSpPr/>
          <p:nvPr/>
        </p:nvSpPr>
        <p:spPr>
          <a:xfrm>
            <a:off x="3931920" y="5166360"/>
            <a:ext cx="42976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931920" y="5870448"/>
            <a:ext cx="42976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06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 ответить на ваши вопросы</a:t>
            </a:r>
            <a:endParaRPr lang="en-US" sz="1060" dirty="0"/>
          </a:p>
          <a:p>
            <a:pPr marL="0" indent="0" algn="ctr">
              <a:buNone/>
            </a:pPr>
            <a:r>
              <a:rPr lang="en-US" sz="1060" dirty="0">
                <a:solidFill>
                  <a:srgbClr val="C7D9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Муравьев Максим Владимирович  |  11ИС-393</a:t>
            </a:r>
            <a:endParaRPr lang="en-US" sz="10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1186</Words>
  <Application>Microsoft Office PowerPoint</Application>
  <PresentationFormat>Широкоэкранный</PresentationFormat>
  <Paragraphs>310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ГБПОУ НСО «Новосибирский колледж электроники и вычислительной техники»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децентрализованной системы верификации образовательных документов на основе блокчейна Ethereum</dc:title>
  <dc:subject>Дипломный проект</dc:subject>
  <dc:creator>Муравьев Максим Владимирович</dc:creator>
  <cp:lastModifiedBy>Муравьев Максим Владимирович</cp:lastModifiedBy>
  <cp:revision>2</cp:revision>
  <dcterms:created xsi:type="dcterms:W3CDTF">2026-06-15T02:08:08Z</dcterms:created>
  <dcterms:modified xsi:type="dcterms:W3CDTF">2026-06-15T02:13:02Z</dcterms:modified>
</cp:coreProperties>
</file>